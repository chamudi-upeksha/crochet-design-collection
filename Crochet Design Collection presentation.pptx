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arlow Condensed" charset="0"/>
      <p:regular r:id="rId8"/>
    </p:embeddedFont>
    <p:embeddedFont>
      <p:font typeface="Playwrite US Modern" charset="0"/>
      <p:regular r:id="rId9"/>
    </p:embeddedFont>
    <p:embeddedFont>
      <p:font typeface="Algerian" pitchFamily="82" charset="0"/>
      <p:regular r:id="rId10"/>
    </p:embeddedFont>
    <p:embeddedFont>
      <p:font typeface="Leckerli One" charset="0"/>
      <p:regular r:id="rId11"/>
    </p:embeddedFont>
    <p:embeddedFont>
      <p:font typeface="Barlow SemiCondensed Bold" charset="0"/>
      <p:regular r:id="rId12"/>
    </p:embeddedFont>
    <p:embeddedFont>
      <p:font typeface="Calibri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2C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7" d="100"/>
          <a:sy n="47" d="100"/>
        </p:scale>
        <p:origin x="-4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svg"/><Relationship Id="rId3" Type="http://schemas.openxmlformats.org/officeDocument/2006/relationships/image" Target="../media/image6.jpeg"/><Relationship Id="rId7" Type="http://schemas.openxmlformats.org/officeDocument/2006/relationships/image" Target="../media/image11.svg"/><Relationship Id="rId12" Type="http://schemas.openxmlformats.org/officeDocument/2006/relationships/image" Target="../media/image11.png"/><Relationship Id="rId2" Type="http://schemas.openxmlformats.org/officeDocument/2006/relationships/image" Target="../media/image5.jpeg"/><Relationship Id="rId16" Type="http://schemas.openxmlformats.org/officeDocument/2006/relationships/slide" Target="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4.svg"/><Relationship Id="rId5" Type="http://schemas.openxmlformats.org/officeDocument/2006/relationships/image" Target="../media/image8.jpeg"/><Relationship Id="rId15" Type="http://schemas.openxmlformats.org/officeDocument/2006/relationships/slide" Target="slide4.xml"/><Relationship Id="rId10" Type="http://schemas.openxmlformats.org/officeDocument/2006/relationships/image" Target="../media/image3.png"/><Relationship Id="rId4" Type="http://schemas.openxmlformats.org/officeDocument/2006/relationships/image" Target="../media/image7.jpeg"/><Relationship Id="rId9" Type="http://schemas.openxmlformats.org/officeDocument/2006/relationships/image" Target="../media/image13.svg"/><Relationship Id="rId14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Time%20Line.PNG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hyperlink" Target="Chrochet%20Design%20Collection.xlsx" TargetMode="External"/><Relationship Id="rId5" Type="http://schemas.openxmlformats.org/officeDocument/2006/relationships/hyperlink" Target="https://www.figma.com/design/z6pNsz03HPba37aWrEVZLC/Untitled?node-id=0-1&amp;t=89PLv5kR9YmpX69G-1" TargetMode="External"/><Relationship Id="rId4" Type="http://schemas.openxmlformats.org/officeDocument/2006/relationships/hyperlink" Target="ER%20Diagram.PN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Crochet_Design_Collection.accdb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hyperlink" Target="system/Crochet_Design_Collection.accdb" TargetMode="External"/><Relationship Id="rId4" Type="http://schemas.openxmlformats.org/officeDocument/2006/relationships/hyperlink" Target="https://crochet-design-collection.company.site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59039" y="6351998"/>
            <a:ext cx="4972384" cy="4305860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/>
              <a:stretch>
                <a:fillRect l="-15064" r="-15064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2640172" y="274650"/>
            <a:ext cx="9083590" cy="7865979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/>
              <a:stretch>
                <a:fillRect l="-14865" r="-14865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6" name="Freeform 6"/>
          <p:cNvSpPr/>
          <p:nvPr/>
        </p:nvSpPr>
        <p:spPr>
          <a:xfrm rot="-3578320">
            <a:off x="10315128" y="2877622"/>
            <a:ext cx="4860206" cy="4206287"/>
          </a:xfrm>
          <a:custGeom>
            <a:avLst/>
            <a:gdLst/>
            <a:ahLst/>
            <a:cxnLst/>
            <a:rect l="l" t="t" r="r" b="b"/>
            <a:pathLst>
              <a:path w="4860206" h="4206287">
                <a:moveTo>
                  <a:pt x="0" y="0"/>
                </a:moveTo>
                <a:lnTo>
                  <a:pt x="4860206" y="0"/>
                </a:lnTo>
                <a:lnTo>
                  <a:pt x="4860206" y="4206288"/>
                </a:lnTo>
                <a:lnTo>
                  <a:pt x="0" y="4206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3578320">
            <a:off x="14829197" y="7408718"/>
            <a:ext cx="4860206" cy="4206287"/>
          </a:xfrm>
          <a:custGeom>
            <a:avLst/>
            <a:gdLst/>
            <a:ahLst/>
            <a:cxnLst/>
            <a:rect l="l" t="t" r="r" b="b"/>
            <a:pathLst>
              <a:path w="4860206" h="4206287">
                <a:moveTo>
                  <a:pt x="0" y="0"/>
                </a:moveTo>
                <a:lnTo>
                  <a:pt x="4860206" y="0"/>
                </a:lnTo>
                <a:lnTo>
                  <a:pt x="4860206" y="4206287"/>
                </a:lnTo>
                <a:lnTo>
                  <a:pt x="0" y="420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578320">
            <a:off x="14829197" y="-2430504"/>
            <a:ext cx="4860206" cy="4206287"/>
          </a:xfrm>
          <a:custGeom>
            <a:avLst/>
            <a:gdLst/>
            <a:ahLst/>
            <a:cxnLst/>
            <a:rect l="l" t="t" r="r" b="b"/>
            <a:pathLst>
              <a:path w="4860206" h="4206287">
                <a:moveTo>
                  <a:pt x="0" y="0"/>
                </a:moveTo>
                <a:lnTo>
                  <a:pt x="4860206" y="0"/>
                </a:lnTo>
                <a:lnTo>
                  <a:pt x="4860206" y="4206287"/>
                </a:lnTo>
                <a:lnTo>
                  <a:pt x="0" y="4206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3677" y="0"/>
            <a:ext cx="2084753" cy="2084753"/>
          </a:xfrm>
          <a:custGeom>
            <a:avLst/>
            <a:gdLst/>
            <a:ahLst/>
            <a:cxnLst/>
            <a:rect l="l" t="t" r="r" b="b"/>
            <a:pathLst>
              <a:path w="2084753" h="2084753">
                <a:moveTo>
                  <a:pt x="0" y="0"/>
                </a:moveTo>
                <a:lnTo>
                  <a:pt x="2084754" y="0"/>
                </a:lnTo>
                <a:lnTo>
                  <a:pt x="2084754" y="2084753"/>
                </a:lnTo>
                <a:lnTo>
                  <a:pt x="0" y="20847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771294" y="1022634"/>
            <a:ext cx="10114434" cy="5309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1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  <a:ea typeface="Playwrite US Modern"/>
                <a:cs typeface="Playwrite US Modern"/>
                <a:sym typeface="Playwrite US Modern"/>
              </a:rPr>
              <a:t>Crochet </a:t>
            </a:r>
          </a:p>
          <a:p>
            <a:pPr algn="ctr"/>
            <a:r>
              <a:rPr lang="en-US" sz="11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  <a:ea typeface="Playwrite US Modern"/>
                <a:cs typeface="Playwrite US Modern"/>
                <a:sym typeface="Playwrite US Modern"/>
              </a:rPr>
              <a:t> </a:t>
            </a:r>
            <a:r>
              <a:rPr lang="en-US" sz="115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  <a:ea typeface="Playwrite US Modern"/>
                <a:cs typeface="Playwrite US Modern"/>
                <a:sym typeface="Playwrite US Modern"/>
              </a:rPr>
              <a:t>Design </a:t>
            </a:r>
            <a:endParaRPr lang="en-US" sz="11500" b="1" cap="all" dirty="0" smtClean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Algerian" pitchFamily="82" charset="0"/>
              <a:ea typeface="Playwrite US Modern"/>
              <a:cs typeface="Playwrite US Modern"/>
              <a:sym typeface="Playwrite US Modern"/>
            </a:endParaRPr>
          </a:p>
          <a:p>
            <a:pPr algn="ctr"/>
            <a:r>
              <a:rPr lang="en-US" sz="115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effectLst>
                  <a:reflection blurRad="12700" stA="28000" endPos="45000" dist="1000" dir="5400000" sy="-100000" algn="bl" rotWithShape="0"/>
                </a:effectLst>
                <a:latin typeface="Algerian" pitchFamily="82" charset="0"/>
                <a:ea typeface="Playwrite US Modern"/>
                <a:cs typeface="Playwrite US Modern"/>
                <a:sym typeface="Playwrite US Modern"/>
              </a:rPr>
              <a:t>Collection</a:t>
            </a:r>
            <a:endParaRPr lang="en-US" sz="11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effectLst>
                <a:reflection blurRad="12700" stA="28000" endPos="45000" dist="1000" dir="5400000" sy="-100000" algn="bl" rotWithShape="0"/>
              </a:effectLst>
              <a:latin typeface="Algerian" pitchFamily="82" charset="0"/>
              <a:ea typeface="Playwrite US Modern"/>
              <a:cs typeface="Playwrite US Modern"/>
              <a:sym typeface="Playwrite US Moder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81454" y="7511117"/>
            <a:ext cx="7362546" cy="2581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64"/>
              </a:lnSpc>
            </a:pPr>
            <a:r>
              <a:rPr lang="en-US" sz="3974" dirty="0">
                <a:solidFill>
                  <a:srgbClr val="383530"/>
                </a:solidFill>
                <a:latin typeface="Leckerli One"/>
                <a:ea typeface="Leckerli One"/>
                <a:cs typeface="Leckerli One"/>
                <a:sym typeface="Leckerli One"/>
              </a:rPr>
              <a:t>A.B.M.Chamudi Upeksha Basnayaka</a:t>
            </a:r>
          </a:p>
          <a:p>
            <a:pPr algn="ctr">
              <a:lnSpc>
                <a:spcPts val="5564"/>
              </a:lnSpc>
            </a:pPr>
            <a:r>
              <a:rPr lang="en-US" sz="3974" dirty="0">
                <a:solidFill>
                  <a:srgbClr val="383530"/>
                </a:solidFill>
                <a:latin typeface="Leckerli One"/>
                <a:ea typeface="Leckerli One"/>
                <a:cs typeface="Leckerli One"/>
                <a:sym typeface="Leckerli One"/>
              </a:rPr>
              <a:t>RAT/IT/2324/F/0080</a:t>
            </a:r>
          </a:p>
          <a:p>
            <a:pPr algn="ctr">
              <a:lnSpc>
                <a:spcPts val="3884"/>
              </a:lnSpc>
              <a:spcBef>
                <a:spcPct val="0"/>
              </a:spcBef>
            </a:pPr>
            <a:endParaRPr lang="en-US" sz="3974" dirty="0">
              <a:solidFill>
                <a:srgbClr val="383530"/>
              </a:solidFill>
              <a:latin typeface="Leckerli One"/>
              <a:ea typeface="Leckerli One"/>
              <a:cs typeface="Leckerli One"/>
              <a:sym typeface="Leckerli On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36306" y="4404617"/>
            <a:ext cx="4438309" cy="3843376"/>
            <a:chOff x="0" y="0"/>
            <a:chExt cx="4282440" cy="3708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stretch>
                <a:fillRect t="-36501" b="-36501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1554541" y="-571499"/>
            <a:ext cx="4438309" cy="3911498"/>
            <a:chOff x="0" y="0"/>
            <a:chExt cx="4282440" cy="3708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3">
                <a:alphaModFix amt="50000"/>
              </a:blip>
              <a:stretch>
                <a:fillRect l="-2927" r="-2927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2147261" y="6443624"/>
            <a:ext cx="4438309" cy="3843376"/>
            <a:chOff x="0" y="0"/>
            <a:chExt cx="4282440" cy="3708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4">
                <a:alphaModFix amt="50000"/>
              </a:blip>
              <a:stretch>
                <a:fillRect l="-4122" r="-4122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15286624" y="1580657"/>
            <a:ext cx="4525375" cy="3843376"/>
            <a:chOff x="0" y="0"/>
            <a:chExt cx="4282440" cy="3708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2440" cy="3708400"/>
            </a:xfrm>
            <a:custGeom>
              <a:avLst/>
              <a:gdLst/>
              <a:ahLst/>
              <a:cxnLst/>
              <a:rect l="l" t="t" r="r" b="b"/>
              <a:pathLst>
                <a:path w="4282440" h="3708400">
                  <a:moveTo>
                    <a:pt x="3211830" y="0"/>
                  </a:moveTo>
                  <a:lnTo>
                    <a:pt x="1070610" y="0"/>
                  </a:lnTo>
                  <a:lnTo>
                    <a:pt x="0" y="1854200"/>
                  </a:lnTo>
                  <a:lnTo>
                    <a:pt x="1070610" y="3708400"/>
                  </a:lnTo>
                  <a:lnTo>
                    <a:pt x="3211830" y="3708400"/>
                  </a:lnTo>
                  <a:lnTo>
                    <a:pt x="4282440" y="1854200"/>
                  </a:lnTo>
                  <a:close/>
                </a:path>
              </a:pathLst>
            </a:custGeom>
            <a:blipFill>
              <a:blip r:embed="rId5">
                <a:alphaModFix amt="50000"/>
              </a:blip>
              <a:stretch>
                <a:fillRect l="-7730" r="-773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0" name="Freeform 10"/>
          <p:cNvSpPr/>
          <p:nvPr/>
        </p:nvSpPr>
        <p:spPr>
          <a:xfrm rot="7221679">
            <a:off x="13024034" y="3415908"/>
            <a:ext cx="2898563" cy="2508574"/>
          </a:xfrm>
          <a:custGeom>
            <a:avLst/>
            <a:gdLst/>
            <a:ahLst/>
            <a:cxnLst/>
            <a:rect l="l" t="t" r="r" b="b"/>
            <a:pathLst>
              <a:path w="2898563" h="2508574">
                <a:moveTo>
                  <a:pt x="0" y="0"/>
                </a:moveTo>
                <a:lnTo>
                  <a:pt x="2898563" y="0"/>
                </a:lnTo>
                <a:lnTo>
                  <a:pt x="2898563" y="2508574"/>
                </a:lnTo>
                <a:lnTo>
                  <a:pt x="0" y="25085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7221679">
            <a:off x="-228763" y="8379277"/>
            <a:ext cx="2898563" cy="2508574"/>
          </a:xfrm>
          <a:custGeom>
            <a:avLst/>
            <a:gdLst/>
            <a:ahLst/>
            <a:cxnLst/>
            <a:rect l="l" t="t" r="r" b="b"/>
            <a:pathLst>
              <a:path w="2898563" h="2508574">
                <a:moveTo>
                  <a:pt x="0" y="0"/>
                </a:moveTo>
                <a:lnTo>
                  <a:pt x="2898563" y="0"/>
                </a:lnTo>
                <a:lnTo>
                  <a:pt x="2898563" y="2508575"/>
                </a:lnTo>
                <a:lnTo>
                  <a:pt x="0" y="25085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3578320">
            <a:off x="15807017" y="-1061105"/>
            <a:ext cx="2904567" cy="2513771"/>
          </a:xfrm>
          <a:custGeom>
            <a:avLst/>
            <a:gdLst/>
            <a:ahLst/>
            <a:cxnLst/>
            <a:rect l="l" t="t" r="r" b="b"/>
            <a:pathLst>
              <a:path w="2904567" h="2513771">
                <a:moveTo>
                  <a:pt x="0" y="0"/>
                </a:moveTo>
                <a:lnTo>
                  <a:pt x="2904566" y="0"/>
                </a:lnTo>
                <a:lnTo>
                  <a:pt x="2904566" y="2513771"/>
                </a:lnTo>
                <a:lnTo>
                  <a:pt x="0" y="25137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3578320">
            <a:off x="15180805" y="4874211"/>
            <a:ext cx="2904567" cy="2513771"/>
          </a:xfrm>
          <a:custGeom>
            <a:avLst/>
            <a:gdLst/>
            <a:ahLst/>
            <a:cxnLst/>
            <a:rect l="l" t="t" r="r" b="b"/>
            <a:pathLst>
              <a:path w="2904567" h="2513771">
                <a:moveTo>
                  <a:pt x="0" y="0"/>
                </a:moveTo>
                <a:lnTo>
                  <a:pt x="2904567" y="0"/>
                </a:lnTo>
                <a:lnTo>
                  <a:pt x="2904567" y="2513770"/>
                </a:lnTo>
                <a:lnTo>
                  <a:pt x="0" y="2513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3578320">
            <a:off x="3851468" y="5102703"/>
            <a:ext cx="2904567" cy="2513771"/>
          </a:xfrm>
          <a:custGeom>
            <a:avLst/>
            <a:gdLst/>
            <a:ahLst/>
            <a:cxnLst/>
            <a:rect l="l" t="t" r="r" b="b"/>
            <a:pathLst>
              <a:path w="2904567" h="2513771">
                <a:moveTo>
                  <a:pt x="0" y="0"/>
                </a:moveTo>
                <a:lnTo>
                  <a:pt x="2904566" y="0"/>
                </a:lnTo>
                <a:lnTo>
                  <a:pt x="2904566" y="2513770"/>
                </a:lnTo>
                <a:lnTo>
                  <a:pt x="0" y="25137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282977" y="6443208"/>
            <a:ext cx="8367318" cy="144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638"/>
              </a:lnSpc>
            </a:pPr>
            <a:r>
              <a:rPr lang="en-US" sz="11564" b="1" spc="323" dirty="0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VISION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5476" y="2823794"/>
            <a:ext cx="8841373" cy="1538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02"/>
              </a:lnSpc>
              <a:spcBef>
                <a:spcPct val="0"/>
              </a:spcBef>
            </a:pPr>
            <a:r>
              <a:rPr lang="en-US" sz="3740" spc="104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Our mission is to empower organizations to thrive through strategic guidance, innovative solutions, and unparalleled expertise.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22320" y="7930750"/>
            <a:ext cx="8314559" cy="103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02"/>
              </a:lnSpc>
              <a:spcBef>
                <a:spcPct val="0"/>
              </a:spcBef>
            </a:pPr>
            <a:r>
              <a:rPr lang="en-US" sz="3740" spc="104" dirty="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We aim to push boundaries using advanced tech for transformative solutions.</a:t>
            </a:r>
          </a:p>
        </p:txBody>
      </p:sp>
      <p:sp>
        <p:nvSpPr>
          <p:cNvPr id="18" name="Freeform 18"/>
          <p:cNvSpPr/>
          <p:nvPr/>
        </p:nvSpPr>
        <p:spPr>
          <a:xfrm>
            <a:off x="8167273" y="2726351"/>
            <a:ext cx="1035509" cy="1293858"/>
          </a:xfrm>
          <a:custGeom>
            <a:avLst/>
            <a:gdLst/>
            <a:ahLst/>
            <a:cxnLst/>
            <a:rect l="l" t="t" r="r" b="b"/>
            <a:pathLst>
              <a:path w="1035509" h="1293858">
                <a:moveTo>
                  <a:pt x="0" y="0"/>
                </a:moveTo>
                <a:lnTo>
                  <a:pt x="1035509" y="0"/>
                </a:lnTo>
                <a:lnTo>
                  <a:pt x="1035509" y="1293858"/>
                </a:lnTo>
                <a:lnTo>
                  <a:pt x="0" y="1293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8030749" y="5000197"/>
            <a:ext cx="1035509" cy="1293858"/>
          </a:xfrm>
          <a:custGeom>
            <a:avLst/>
            <a:gdLst/>
            <a:ahLst/>
            <a:cxnLst/>
            <a:rect l="l" t="t" r="r" b="b"/>
            <a:pathLst>
              <a:path w="1035509" h="1293858">
                <a:moveTo>
                  <a:pt x="0" y="0"/>
                </a:moveTo>
                <a:lnTo>
                  <a:pt x="1035509" y="0"/>
                </a:lnTo>
                <a:lnTo>
                  <a:pt x="1035509" y="1293858"/>
                </a:lnTo>
                <a:lnTo>
                  <a:pt x="0" y="1293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7997337" y="7278948"/>
            <a:ext cx="1035509" cy="1293858"/>
          </a:xfrm>
          <a:custGeom>
            <a:avLst/>
            <a:gdLst/>
            <a:ahLst/>
            <a:cxnLst/>
            <a:rect l="l" t="t" r="r" b="b"/>
            <a:pathLst>
              <a:path w="1035509" h="1293858">
                <a:moveTo>
                  <a:pt x="0" y="0"/>
                </a:moveTo>
                <a:lnTo>
                  <a:pt x="1035509" y="0"/>
                </a:lnTo>
                <a:lnTo>
                  <a:pt x="1035509" y="1293858"/>
                </a:lnTo>
                <a:lnTo>
                  <a:pt x="0" y="12938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=""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184936" y="131270"/>
            <a:ext cx="8367318" cy="1449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10638"/>
              </a:lnSpc>
            </a:pPr>
            <a:r>
              <a:rPr lang="en-US" sz="11564" b="1" spc="323">
                <a:solidFill>
                  <a:srgbClr val="FFFFFF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MISSION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41524" y="96390"/>
            <a:ext cx="10874276" cy="1525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CONTENT</a:t>
            </a:r>
            <a:r>
              <a:rPr lang="en-US" sz="9200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...</a:t>
            </a:r>
            <a:endParaRPr lang="en-US" sz="9200" dirty="0">
              <a:solidFill>
                <a:schemeClr val="accent2">
                  <a:lumMod val="75000"/>
                </a:schemeClr>
              </a:solidFill>
              <a:latin typeface="Algerian" pitchFamily="82" charset="0"/>
              <a:ea typeface="Celandine"/>
              <a:cs typeface="Celandine"/>
              <a:sym typeface="Celandine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090458" y="1789308"/>
            <a:ext cx="5189141" cy="936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  <a:spcBef>
                <a:spcPct val="0"/>
              </a:spcBef>
            </a:pPr>
            <a:r>
              <a:rPr lang="en-US" sz="5474" dirty="0">
                <a:latin typeface="Leckerli One"/>
                <a:ea typeface="Leckerli One"/>
                <a:cs typeface="Leckerli One"/>
                <a:sym typeface="Leckerli One"/>
                <a:hlinkClick r:id="rId14" action="ppaction://hlinksldjump"/>
              </a:rPr>
              <a:t>Project Concept </a:t>
            </a:r>
            <a:endParaRPr lang="en-US" sz="5474" dirty="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176529" y="3996254"/>
            <a:ext cx="8743950" cy="93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  <a:spcBef>
                <a:spcPct val="0"/>
              </a:spcBef>
            </a:pPr>
            <a:r>
              <a:rPr lang="en-US" sz="5474" dirty="0">
                <a:latin typeface="Leckerli One"/>
                <a:ea typeface="Leckerli One"/>
                <a:cs typeface="Leckerli One"/>
                <a:sym typeface="Leckerli One"/>
                <a:hlinkClick r:id="rId14" action="ppaction://hlinksldjump"/>
              </a:rPr>
              <a:t>Planning and Organization</a:t>
            </a:r>
            <a:endParaRPr lang="en-US" sz="5474" dirty="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090458" y="6275005"/>
            <a:ext cx="4849267" cy="93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  <a:spcBef>
                <a:spcPct val="0"/>
              </a:spcBef>
            </a:pPr>
            <a:r>
              <a:rPr lang="en-US" sz="5474" dirty="0">
                <a:latin typeface="Leckerli One"/>
                <a:ea typeface="Leckerli One"/>
                <a:cs typeface="Leckerli One"/>
                <a:sym typeface="Leckerli One"/>
                <a:hlinkClick r:id="rId15" action="ppaction://hlinksldjump"/>
              </a:rPr>
              <a:t>Technical Skills</a:t>
            </a:r>
            <a:endParaRPr lang="en-US" sz="5474" dirty="0">
              <a:latin typeface="Leckerli One"/>
              <a:ea typeface="Leckerli One"/>
              <a:cs typeface="Leckerli One"/>
              <a:sym typeface="Leckerli One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6533296" y="8553756"/>
            <a:ext cx="4406429" cy="9366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64"/>
              </a:lnSpc>
              <a:spcBef>
                <a:spcPct val="0"/>
              </a:spcBef>
            </a:pPr>
            <a:r>
              <a:rPr lang="en-US" sz="5474" dirty="0">
                <a:latin typeface="Leckerli One"/>
                <a:ea typeface="Leckerli One"/>
                <a:cs typeface="Leckerli One"/>
                <a:sym typeface="Leckerli One"/>
                <a:hlinkClick r:id="rId16" action="ppaction://hlinksldjump"/>
              </a:rPr>
              <a:t>Completeness</a:t>
            </a:r>
            <a:endParaRPr lang="en-US" sz="5474" dirty="0">
              <a:latin typeface="Leckerli One"/>
              <a:ea typeface="Leckerli One"/>
              <a:cs typeface="Leckerli One"/>
              <a:sym typeface="Leckerli One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2864" y="0"/>
            <a:ext cx="9765136" cy="10287000"/>
          </a:xfrm>
          <a:custGeom>
            <a:avLst/>
            <a:gdLst/>
            <a:ahLst/>
            <a:cxnLst/>
            <a:rect l="l" t="t" r="r" b="b"/>
            <a:pathLst>
              <a:path w="9765136" h="10287000">
                <a:moveTo>
                  <a:pt x="0" y="0"/>
                </a:moveTo>
                <a:lnTo>
                  <a:pt x="9765136" y="0"/>
                </a:lnTo>
                <a:lnTo>
                  <a:pt x="976513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</a:blip>
            <a:stretch>
              <a:fillRect l="-66010" r="-2728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14400" y="438084"/>
            <a:ext cx="14249400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Project  Concept</a:t>
            </a:r>
            <a:r>
              <a:rPr lang="en-US" sz="9200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...</a:t>
            </a:r>
            <a:endParaRPr lang="en-US" sz="9200" dirty="0">
              <a:solidFill>
                <a:schemeClr val="accent2">
                  <a:lumMod val="75000"/>
                </a:schemeClr>
              </a:solidFill>
              <a:latin typeface="Algerian" pitchFamily="82" charset="0"/>
              <a:ea typeface="Celandine"/>
              <a:cs typeface="Celandine"/>
              <a:sym typeface="Celandin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24449" y="2390387"/>
            <a:ext cx="16634851" cy="234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35"/>
              </a:lnSpc>
              <a:spcBef>
                <a:spcPct val="0"/>
              </a:spcBef>
            </a:pPr>
            <a:r>
              <a:rPr lang="en-US" sz="4382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"Creating an online platform to explore and purchase unique, handcrafted crochet designs made from eco-friendly materials, promoting environmentally conscious and eco-friendly living."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28600" y="4962525"/>
            <a:ext cx="18654205" cy="1641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43"/>
              </a:lnSpc>
              <a:spcBef>
                <a:spcPct val="0"/>
              </a:spcBef>
            </a:pPr>
            <a:r>
              <a:rPr lang="en-US" sz="9174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Planning and Organization...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77077" y="6438900"/>
            <a:ext cx="4343400" cy="73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9269" lvl="1" indent="-504634">
              <a:lnSpc>
                <a:spcPts val="6544"/>
              </a:lnSpc>
              <a:buFont typeface="Arial"/>
              <a:buChar char="•"/>
            </a:pPr>
            <a:r>
              <a:rPr lang="en-US" sz="4400" b="1" dirty="0">
                <a:latin typeface="Barlow SemiCondensed Bold"/>
                <a:ea typeface="Barlow SemiCondensed Bold"/>
                <a:cs typeface="Barlow SemiCondensed Bold"/>
                <a:sym typeface="Barlow SemiCondensed Bold"/>
                <a:hlinkClick r:id="rId3" action="ppaction://hlinkfile"/>
              </a:rPr>
              <a:t>Time Line</a:t>
            </a:r>
            <a:endParaRPr lang="en-US" sz="4400" b="1" dirty="0">
              <a:latin typeface="Barlow SemiCondensed Bold"/>
              <a:ea typeface="Barlow SemiCondensed Bold"/>
              <a:cs typeface="Barlow SemiCondensed Bold"/>
              <a:sym typeface="Barlow SemiCondense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77077" y="7176923"/>
            <a:ext cx="4429335" cy="73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9269" lvl="1" indent="-504634">
              <a:lnSpc>
                <a:spcPts val="6544"/>
              </a:lnSpc>
              <a:buFont typeface="Arial"/>
              <a:buChar char="•"/>
            </a:pPr>
            <a:r>
              <a:rPr lang="en-US" sz="4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  <a:hlinkClick r:id="rId4" action="ppaction://hlinkfile"/>
              </a:rPr>
              <a:t>ER Diagram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Barlow SemiCondensed Bold"/>
              <a:ea typeface="Barlow SemiCondensed Bold"/>
              <a:cs typeface="Barlow SemiCondensed Bold"/>
              <a:sym typeface="Barlow SemiCondense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834110" y="7914946"/>
            <a:ext cx="4928890" cy="73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9269" lvl="1" indent="-504634">
              <a:lnSpc>
                <a:spcPts val="6544"/>
              </a:lnSpc>
              <a:buFont typeface="Arial"/>
              <a:buChar char="•"/>
            </a:pPr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  <a:hlinkClick r:id="rId5"/>
              </a:rPr>
              <a:t>Wireframe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Barlow SemiCondensed Bold"/>
              <a:ea typeface="Barlow SemiCondensed Bold"/>
              <a:cs typeface="Barlow SemiCondensed Bold"/>
              <a:sym typeface="Barlow SemiCondensed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77077" y="8652969"/>
            <a:ext cx="4928890" cy="738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09269" lvl="1" indent="-504634">
              <a:lnSpc>
                <a:spcPts val="6544"/>
              </a:lnSpc>
              <a:buFont typeface="Arial"/>
              <a:buChar char="•"/>
            </a:pPr>
            <a:r>
              <a:rPr lang="en-US" sz="4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  <a:hlinkClick r:id="rId6" action="ppaction://hlinkfile"/>
              </a:rPr>
              <a:t>Budget Plan</a:t>
            </a:r>
            <a:endParaRPr lang="en-US" sz="4400" b="1" dirty="0">
              <a:solidFill>
                <a:schemeClr val="tx1">
                  <a:lumMod val="75000"/>
                  <a:lumOff val="25000"/>
                </a:schemeClr>
              </a:solidFill>
              <a:latin typeface="Barlow SemiCondensed Bold"/>
              <a:ea typeface="Barlow SemiCondensed Bold"/>
              <a:cs typeface="Barlow SemiCondensed Bold"/>
              <a:sym typeface="Barlow SemiCondensed Bold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5473" y="891746"/>
            <a:ext cx="2261340" cy="2211531"/>
          </a:xfrm>
          <a:custGeom>
            <a:avLst/>
            <a:gdLst/>
            <a:ahLst/>
            <a:cxnLst/>
            <a:rect l="l" t="t" r="r" b="b"/>
            <a:pathLst>
              <a:path w="2261340" h="2211531">
                <a:moveTo>
                  <a:pt x="0" y="0"/>
                </a:moveTo>
                <a:lnTo>
                  <a:pt x="2261341" y="0"/>
                </a:lnTo>
                <a:lnTo>
                  <a:pt x="2261341" y="2211531"/>
                </a:lnTo>
                <a:lnTo>
                  <a:pt x="0" y="2211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949714" y="1028700"/>
            <a:ext cx="2261340" cy="2211531"/>
          </a:xfrm>
          <a:custGeom>
            <a:avLst/>
            <a:gdLst/>
            <a:ahLst/>
            <a:cxnLst/>
            <a:rect l="l" t="t" r="r" b="b"/>
            <a:pathLst>
              <a:path w="2261340" h="2211531">
                <a:moveTo>
                  <a:pt x="0" y="0"/>
                </a:moveTo>
                <a:lnTo>
                  <a:pt x="2261340" y="0"/>
                </a:lnTo>
                <a:lnTo>
                  <a:pt x="2261340" y="2211531"/>
                </a:lnTo>
                <a:lnTo>
                  <a:pt x="0" y="2211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53954" y="1028700"/>
            <a:ext cx="2261340" cy="2211531"/>
          </a:xfrm>
          <a:custGeom>
            <a:avLst/>
            <a:gdLst/>
            <a:ahLst/>
            <a:cxnLst/>
            <a:rect l="l" t="t" r="r" b="b"/>
            <a:pathLst>
              <a:path w="2261340" h="2211531">
                <a:moveTo>
                  <a:pt x="0" y="0"/>
                </a:moveTo>
                <a:lnTo>
                  <a:pt x="2261340" y="0"/>
                </a:lnTo>
                <a:lnTo>
                  <a:pt x="2261340" y="2211531"/>
                </a:lnTo>
                <a:lnTo>
                  <a:pt x="0" y="22115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43214" y="3886171"/>
            <a:ext cx="2261340" cy="2211531"/>
          </a:xfrm>
          <a:custGeom>
            <a:avLst/>
            <a:gdLst/>
            <a:ahLst/>
            <a:cxnLst/>
            <a:rect l="l" t="t" r="r" b="b"/>
            <a:pathLst>
              <a:path w="2261340" h="2211531">
                <a:moveTo>
                  <a:pt x="0" y="0"/>
                </a:moveTo>
                <a:lnTo>
                  <a:pt x="2261340" y="0"/>
                </a:lnTo>
                <a:lnTo>
                  <a:pt x="2261340" y="2211531"/>
                </a:lnTo>
                <a:lnTo>
                  <a:pt x="0" y="22115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520204" y="6933560"/>
            <a:ext cx="2446020" cy="2446020"/>
          </a:xfrm>
          <a:custGeom>
            <a:avLst/>
            <a:gdLst/>
            <a:ahLst/>
            <a:cxnLst/>
            <a:rect l="l" t="t" r="r" b="b"/>
            <a:pathLst>
              <a:path w="2446020" h="2446020">
                <a:moveTo>
                  <a:pt x="0" y="0"/>
                </a:moveTo>
                <a:lnTo>
                  <a:pt x="2446020" y="0"/>
                </a:lnTo>
                <a:lnTo>
                  <a:pt x="2446020" y="2446020"/>
                </a:lnTo>
                <a:lnTo>
                  <a:pt x="0" y="2446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06814" y="6933560"/>
            <a:ext cx="2946134" cy="2446020"/>
          </a:xfrm>
          <a:custGeom>
            <a:avLst/>
            <a:gdLst/>
            <a:ahLst/>
            <a:cxnLst/>
            <a:rect l="l" t="t" r="r" b="b"/>
            <a:pathLst>
              <a:path w="2946134" h="2446020">
                <a:moveTo>
                  <a:pt x="0" y="0"/>
                </a:moveTo>
                <a:lnTo>
                  <a:pt x="2946133" y="0"/>
                </a:lnTo>
                <a:lnTo>
                  <a:pt x="2946133" y="2446020"/>
                </a:lnTo>
                <a:lnTo>
                  <a:pt x="0" y="24460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421" r="-5421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880979" y="4009432"/>
            <a:ext cx="2268135" cy="2268135"/>
          </a:xfrm>
          <a:custGeom>
            <a:avLst/>
            <a:gdLst/>
            <a:ahLst/>
            <a:cxnLst/>
            <a:rect l="l" t="t" r="r" b="b"/>
            <a:pathLst>
              <a:path w="2268135" h="2268135">
                <a:moveTo>
                  <a:pt x="0" y="0"/>
                </a:moveTo>
                <a:lnTo>
                  <a:pt x="2268136" y="0"/>
                </a:lnTo>
                <a:lnTo>
                  <a:pt x="2268136" y="2268136"/>
                </a:lnTo>
                <a:lnTo>
                  <a:pt x="0" y="22681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606087" y="7049093"/>
            <a:ext cx="2209207" cy="2209207"/>
          </a:xfrm>
          <a:custGeom>
            <a:avLst/>
            <a:gdLst/>
            <a:ahLst/>
            <a:cxnLst/>
            <a:rect l="l" t="t" r="r" b="b"/>
            <a:pathLst>
              <a:path w="2209207" h="2209207">
                <a:moveTo>
                  <a:pt x="0" y="0"/>
                </a:moveTo>
                <a:lnTo>
                  <a:pt x="2209207" y="0"/>
                </a:lnTo>
                <a:lnTo>
                  <a:pt x="2209207" y="2209207"/>
                </a:lnTo>
                <a:lnTo>
                  <a:pt x="0" y="22092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667317" y="228912"/>
            <a:ext cx="12541201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Technical Skill...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34900" y="1883211"/>
            <a:ext cx="5938542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1. MS Office Package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18579" y="2976140"/>
            <a:ext cx="5844949" cy="3291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09269" lvl="1" indent="-504634" algn="l">
              <a:lnSpc>
                <a:spcPts val="6544"/>
              </a:lnSpc>
              <a:buFont typeface="Arial"/>
              <a:buChar char="•"/>
            </a:pPr>
            <a:r>
              <a:rPr lang="en-US" sz="4674" b="1">
                <a:solidFill>
                  <a:srgbClr val="38353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MS Word</a:t>
            </a:r>
          </a:p>
          <a:p>
            <a:pPr marL="1009269" lvl="1" indent="-504634" algn="l">
              <a:lnSpc>
                <a:spcPts val="6544"/>
              </a:lnSpc>
              <a:buFont typeface="Arial"/>
              <a:buChar char="•"/>
            </a:pPr>
            <a:r>
              <a:rPr lang="en-US" sz="4674" b="1">
                <a:solidFill>
                  <a:srgbClr val="38353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MS Excel</a:t>
            </a:r>
          </a:p>
          <a:p>
            <a:pPr marL="1009269" lvl="1" indent="-504634" algn="l">
              <a:lnSpc>
                <a:spcPts val="6544"/>
              </a:lnSpc>
              <a:buFont typeface="Arial"/>
              <a:buChar char="•"/>
            </a:pPr>
            <a:r>
              <a:rPr lang="en-US" sz="4674" b="1">
                <a:solidFill>
                  <a:srgbClr val="38353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MS Access</a:t>
            </a:r>
          </a:p>
          <a:p>
            <a:pPr marL="1009269" lvl="1" indent="-504634" algn="l">
              <a:lnSpc>
                <a:spcPts val="6544"/>
              </a:lnSpc>
              <a:buFont typeface="Arial"/>
              <a:buChar char="•"/>
            </a:pPr>
            <a:r>
              <a:rPr lang="en-US" sz="4674" b="1">
                <a:solidFill>
                  <a:srgbClr val="38353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 MS PowerPoint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34900" y="6411590"/>
            <a:ext cx="5938542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2. Ecwid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34900" y="7226930"/>
            <a:ext cx="5938542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3. Canva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34900" y="8042270"/>
            <a:ext cx="5938542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4. Draw oi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34900" y="8857610"/>
            <a:ext cx="5938542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559"/>
              </a:lnSpc>
              <a:spcBef>
                <a:spcPct val="0"/>
              </a:spcBef>
            </a:pPr>
            <a:r>
              <a:rPr lang="en-US" sz="54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5. Figma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7183" y="1635093"/>
            <a:ext cx="9520817" cy="7623207"/>
          </a:xfrm>
          <a:custGeom>
            <a:avLst/>
            <a:gdLst/>
            <a:ahLst/>
            <a:cxnLst/>
            <a:rect l="l" t="t" r="r" b="b"/>
            <a:pathLst>
              <a:path w="10177374" h="7623207">
                <a:moveTo>
                  <a:pt x="0" y="0"/>
                </a:moveTo>
                <a:lnTo>
                  <a:pt x="10177374" y="0"/>
                </a:lnTo>
                <a:lnTo>
                  <a:pt x="10177374" y="7623207"/>
                </a:lnTo>
                <a:lnTo>
                  <a:pt x="0" y="7623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8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420118" y="150178"/>
            <a:ext cx="10695682" cy="16542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smtClean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Celandine"/>
                <a:cs typeface="Celandine"/>
                <a:sym typeface="Celandine"/>
              </a:rPr>
              <a:t>Completeness…</a:t>
            </a:r>
            <a:endParaRPr lang="en-US" sz="9200" dirty="0">
              <a:solidFill>
                <a:srgbClr val="000000"/>
              </a:solidFill>
              <a:latin typeface="Algerian" pitchFamily="82" charset="0"/>
              <a:ea typeface="Celandine"/>
              <a:cs typeface="Celandine"/>
              <a:sym typeface="Celandine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00661" y="2259644"/>
            <a:ext cx="704911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499" lvl="1" indent="-539749" algn="ctr">
              <a:lnSpc>
                <a:spcPts val="6999"/>
              </a:lnSpc>
              <a:buFont typeface="Arial"/>
              <a:buChar char="•"/>
            </a:pPr>
            <a:r>
              <a:rPr lang="en-US" sz="4999" b="1" dirty="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Go To Database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00660" y="4649788"/>
            <a:ext cx="874813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 algn="ctr">
              <a:lnSpc>
                <a:spcPts val="7000"/>
              </a:lnSpc>
              <a:buFont typeface="Arial"/>
              <a:buChar char="•"/>
            </a:pPr>
            <a:r>
              <a:rPr lang="en-US" sz="5000" b="1" dirty="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Go to </a:t>
            </a:r>
            <a:r>
              <a:rPr lang="en-US" sz="5000" b="1" dirty="0" smtClean="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Database </a:t>
            </a:r>
            <a:r>
              <a:rPr lang="en-US" sz="5000" b="1" dirty="0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System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0661" y="6829381"/>
            <a:ext cx="7049115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79501" lvl="1" indent="-539750" algn="ctr">
              <a:lnSpc>
                <a:spcPts val="7000"/>
              </a:lnSpc>
              <a:buFont typeface="Arial"/>
              <a:buChar char="•"/>
            </a:pPr>
            <a:r>
              <a:rPr lang="en-US" sz="5000" b="1">
                <a:solidFill>
                  <a:srgbClr val="000000"/>
                </a:solidFill>
                <a:latin typeface="Barlow SemiCondensed Bold"/>
                <a:ea typeface="Barlow SemiCondensed Bold"/>
                <a:cs typeface="Barlow SemiCondensed Bold"/>
                <a:sym typeface="Barlow SemiCondensed Bold"/>
              </a:rPr>
              <a:t>Go To Web Site</a:t>
            </a:r>
          </a:p>
        </p:txBody>
      </p:sp>
      <p:sp>
        <p:nvSpPr>
          <p:cNvPr id="7" name="Right Arrow 6">
            <a:hlinkClick r:id="rId3" action="ppaction://hlinkfile"/>
          </p:cNvPr>
          <p:cNvSpPr/>
          <p:nvPr/>
        </p:nvSpPr>
        <p:spPr>
          <a:xfrm>
            <a:off x="4225218" y="3467100"/>
            <a:ext cx="2327982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hlinkClick r:id="rId4"/>
          </p:cNvPr>
          <p:cNvSpPr/>
          <p:nvPr/>
        </p:nvSpPr>
        <p:spPr>
          <a:xfrm>
            <a:off x="4530018" y="7810500"/>
            <a:ext cx="2327982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hlinkClick r:id="rId5" action="ppaction://hlinkfile"/>
          </p:cNvPr>
          <p:cNvSpPr/>
          <p:nvPr/>
        </p:nvSpPr>
        <p:spPr>
          <a:xfrm>
            <a:off x="4463787" y="5598270"/>
            <a:ext cx="2327982" cy="685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7442489" cy="10287000"/>
          </a:xfrm>
          <a:custGeom>
            <a:avLst/>
            <a:gdLst/>
            <a:ahLst/>
            <a:cxnLst/>
            <a:rect l="l" t="t" r="r" b="b"/>
            <a:pathLst>
              <a:path w="7442489" h="10287000">
                <a:moveTo>
                  <a:pt x="0" y="0"/>
                </a:moveTo>
                <a:lnTo>
                  <a:pt x="7442489" y="0"/>
                </a:lnTo>
                <a:lnTo>
                  <a:pt x="744248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442489" y="1799198"/>
            <a:ext cx="10845511" cy="5591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802"/>
              </a:lnSpc>
            </a:pPr>
            <a:r>
              <a:rPr lang="en-US" sz="21700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Zico Display Inline"/>
                <a:cs typeface="Zico Display Inline"/>
                <a:sym typeface="Zico Display Inline"/>
              </a:rPr>
              <a:t>Thank</a:t>
            </a:r>
            <a:r>
              <a:rPr lang="en-US" sz="21700" dirty="0">
                <a:solidFill>
                  <a:srgbClr val="861E13"/>
                </a:solidFill>
                <a:latin typeface="Algerian" pitchFamily="82" charset="0"/>
                <a:ea typeface="Zico Display Inline"/>
                <a:cs typeface="Zico Display Inline"/>
                <a:sym typeface="Zico Display Inline"/>
              </a:rPr>
              <a:t> </a:t>
            </a:r>
            <a:r>
              <a:rPr lang="en-US" sz="21700" dirty="0">
                <a:solidFill>
                  <a:schemeClr val="accent2">
                    <a:lumMod val="75000"/>
                  </a:schemeClr>
                </a:solidFill>
                <a:latin typeface="Algerian" pitchFamily="82" charset="0"/>
                <a:ea typeface="Zico Display Inline"/>
                <a:cs typeface="Zico Display Inline"/>
                <a:sym typeface="Zico Display Inline"/>
              </a:rPr>
              <a:t>You....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140</Words>
  <Application>Microsoft Office PowerPoint</Application>
  <PresentationFormat>Custom</PresentationFormat>
  <Paragraphs>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Zico Display Inline</vt:lpstr>
      <vt:lpstr>Barlow Condensed</vt:lpstr>
      <vt:lpstr>Playwrite US Modern</vt:lpstr>
      <vt:lpstr>Algerian</vt:lpstr>
      <vt:lpstr>Leckerli One</vt:lpstr>
      <vt:lpstr>Celandine</vt:lpstr>
      <vt:lpstr>Barlow SemiCondensed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paragraph text</dc:title>
  <cp:lastModifiedBy>Windows User</cp:lastModifiedBy>
  <cp:revision>7</cp:revision>
  <dcterms:created xsi:type="dcterms:W3CDTF">2006-08-16T00:00:00Z</dcterms:created>
  <dcterms:modified xsi:type="dcterms:W3CDTF">2024-12-17T19:39:47Z</dcterms:modified>
  <dc:identifier>DAGZilBAe18</dc:identifier>
</cp:coreProperties>
</file>